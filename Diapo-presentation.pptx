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Amatic SC"/>
      <p:regular r:id="rId27"/>
      <p:bold r:id="rId28"/>
    </p:embeddedFont>
    <p:embeddedFont>
      <p:font typeface="Alfa Slab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AmaticSC-bold.fntdata"/><Relationship Id="rId27" Type="http://schemas.openxmlformats.org/officeDocument/2006/relationships/font" Target="fonts/AmaticS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lfaSlab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5ef88a7a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5ef88a7a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5ef88a7a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5ef88a7a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5ef88a7a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5ef88a7a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5ef88a7a4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5ef88a7a4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5ef88a7a4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5ef88a7a4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6ca435b8e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6ca435b8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ca435b8e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ca435b8e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6ca435b8e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6ca435b8e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6ca435b8e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6ca435b8e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6ca435b8e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6ca435b8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ca435b8e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ca435b8e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ca435b8e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ca435b8e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6ca435b8e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6ca435b8e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ca435b8e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6ca435b8e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6ca435b8e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6ca435b8e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ca435b8e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6ca435b8e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9225" y="1084838"/>
            <a:ext cx="5084725" cy="41355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ctrTitle"/>
          </p:nvPr>
        </p:nvSpPr>
        <p:spPr>
          <a:xfrm>
            <a:off x="-42800" y="0"/>
            <a:ext cx="65229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000" u="sng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L’ </a:t>
            </a:r>
            <a:r>
              <a:rPr b="1" lang="fr" sz="4000" u="sng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Age de Pierre</a:t>
            </a:r>
            <a:r>
              <a:rPr b="1" lang="fr" sz="4000">
                <a:solidFill>
                  <a:srgbClr val="FFFFFF"/>
                </a:solidFill>
              </a:rPr>
              <a:t> </a:t>
            </a:r>
            <a:r>
              <a:rPr b="1" lang="fr" sz="3600">
                <a:solidFill>
                  <a:srgbClr val="FFFFFF"/>
                </a:solidFill>
              </a:rPr>
              <a:t>: </a:t>
            </a:r>
            <a:r>
              <a:rPr b="1" lang="fr" sz="3000">
                <a:solidFill>
                  <a:srgbClr val="FFFFFF"/>
                </a:solidFill>
              </a:rPr>
              <a:t>Groupe SAH</a:t>
            </a:r>
            <a:endParaRPr b="1" sz="3000">
              <a:solidFill>
                <a:srgbClr val="FFFFFF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175" y="3250700"/>
            <a:ext cx="462825" cy="4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46000" y="969925"/>
            <a:ext cx="3378900" cy="3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 u="sng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Membres </a:t>
            </a:r>
            <a:r>
              <a:rPr b="1" lang="fr" sz="24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sz="24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Tognetti Yohann (Idrash)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Martin D’Escrienne Yann (Mentra20)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Goulot Thomas (iopama)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Santi Anthony (AnthonyS06)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Maxime Jerome (theoricien)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87" y="3803372"/>
            <a:ext cx="462825" cy="44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75" y="2122263"/>
            <a:ext cx="462825" cy="5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5166" y="1545743"/>
            <a:ext cx="462825" cy="50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5167" y="2757008"/>
            <a:ext cx="462825" cy="423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3200" y="2456790"/>
            <a:ext cx="339975" cy="362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24893" y="1162425"/>
            <a:ext cx="299082" cy="3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7600" y="1133500"/>
            <a:ext cx="305575" cy="3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21647" y="3888194"/>
            <a:ext cx="305575" cy="27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4462" y="2525313"/>
            <a:ext cx="339951" cy="3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8276650" y="3838900"/>
            <a:ext cx="867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FF9900"/>
                </a:solidFill>
                <a:latin typeface="Alfa Slab One"/>
                <a:ea typeface="Alfa Slab One"/>
                <a:cs typeface="Alfa Slab One"/>
                <a:sym typeface="Alfa Slab One"/>
              </a:rPr>
              <a:t>N°1</a:t>
            </a:r>
            <a:endParaRPr sz="3000">
              <a:solidFill>
                <a:srgbClr val="FF9900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9">
            <a:alphaModFix/>
          </a:blip>
          <a:srcRect b="-3920" l="3139" r="-3140" t="3920"/>
          <a:stretch/>
        </p:blipFill>
        <p:spPr>
          <a:xfrm>
            <a:off x="6687600" y="3838900"/>
            <a:ext cx="1611325" cy="14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311700" y="0"/>
            <a:ext cx="29244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Fonctionnalités réalisées :</a:t>
            </a:r>
            <a:endParaRPr b="1" sz="1800"/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8700" y="0"/>
            <a:ext cx="2015300" cy="15543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4"/>
          <p:cNvSpPr txBox="1"/>
          <p:nvPr>
            <p:ph type="title"/>
          </p:nvPr>
        </p:nvSpPr>
        <p:spPr>
          <a:xfrm>
            <a:off x="311700" y="3218025"/>
            <a:ext cx="35352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Fonctionnalités Manquantes:</a:t>
            </a:r>
            <a:endParaRPr b="1" sz="1800"/>
          </a:p>
        </p:txBody>
      </p:sp>
      <p:sp>
        <p:nvSpPr>
          <p:cNvPr id="107" name="Google Shape;107;p14"/>
          <p:cNvSpPr txBox="1"/>
          <p:nvPr/>
        </p:nvSpPr>
        <p:spPr>
          <a:xfrm>
            <a:off x="311700" y="450075"/>
            <a:ext cx="58506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latin typeface="Roboto"/>
                <a:ea typeface="Roboto"/>
                <a:cs typeface="Roboto"/>
                <a:sym typeface="Roboto"/>
              </a:rPr>
              <a:t>Toutes les fonctionnalités du jeu ont été implémentées : </a:t>
            </a:r>
            <a:endParaRPr u="sng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Cartes civilisation,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Tuiles 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bâtiment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,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Zones du jeu,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ègles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selon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 le nombre de joueurs,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Gain dans les zones,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Bonus de fin de partie.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11700" y="2059125"/>
            <a:ext cx="6632100" cy="11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latin typeface="Roboto"/>
                <a:ea typeface="Roboto"/>
                <a:cs typeface="Roboto"/>
                <a:sym typeface="Roboto"/>
              </a:rPr>
              <a:t>Autres fonctionnalités :</a:t>
            </a:r>
            <a:endParaRPr u="sng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Ajout d’IA : avec stratégie 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débutante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, random, cartes civilisation, ressources, cartes civilisation avancée.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Ajout de statistiques (sur 500 parties) : Moyenne de chaque ressource en fin de partie, moyenne des ressources pendant les parties.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11700" y="3621725"/>
            <a:ext cx="58947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Une IA jouant uniquement sur les 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Bâtiments, une IA probabiliste, ...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Quelques statistiques supplémentaires, comme l’écart-type ou encore les valeurs médianes et l’étendue.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358200" y="99275"/>
            <a:ext cx="91440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700">
                <a:solidFill>
                  <a:srgbClr val="FFFFFF"/>
                </a:solidFill>
              </a:rPr>
              <a:t>Grands choix de conception et organisation du code :</a:t>
            </a:r>
            <a:endParaRPr b="1" sz="2700">
              <a:solidFill>
                <a:srgbClr val="FFFFFF"/>
              </a:solidFill>
            </a:endParaRPr>
          </a:p>
        </p:txBody>
      </p:sp>
      <p:sp>
        <p:nvSpPr>
          <p:cNvPr id="115" name="Google Shape;115;p15"/>
          <p:cNvSpPr txBox="1"/>
          <p:nvPr>
            <p:ph idx="4294967295" type="body"/>
          </p:nvPr>
        </p:nvSpPr>
        <p:spPr>
          <a:xfrm>
            <a:off x="311700" y="855500"/>
            <a:ext cx="4200900" cy="4138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>
                <a:solidFill>
                  <a:srgbClr val="000000"/>
                </a:solidFill>
              </a:rPr>
              <a:t>Choix de conception</a:t>
            </a:r>
            <a:r>
              <a:rPr b="1" lang="fr" sz="1800" u="sng">
                <a:solidFill>
                  <a:srgbClr val="000000"/>
                </a:solidFill>
              </a:rPr>
              <a:t> :</a:t>
            </a:r>
            <a:endParaRPr b="1" sz="18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</a:rPr>
              <a:t>-Refonte total du code après la première semaine(problèmes d’organisation, classes ayant trop de fonctions…).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</a:rPr>
              <a:t>-Mise en place des classes abstract pour assouplir l’implémentation.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</a:rPr>
              <a:t>- Séparation du client et du jeu (package, import..).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400" u="sng">
              <a:solidFill>
                <a:srgbClr val="000000"/>
              </a:solidFill>
            </a:endParaRPr>
          </a:p>
        </p:txBody>
      </p:sp>
      <p:sp>
        <p:nvSpPr>
          <p:cNvPr id="116" name="Google Shape;116;p15"/>
          <p:cNvSpPr txBox="1"/>
          <p:nvPr>
            <p:ph idx="4294967295" type="body"/>
          </p:nvPr>
        </p:nvSpPr>
        <p:spPr>
          <a:xfrm>
            <a:off x="4758550" y="855475"/>
            <a:ext cx="4073700" cy="41382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u="sng">
                <a:solidFill>
                  <a:srgbClr val="000000"/>
                </a:solidFill>
              </a:rPr>
              <a:t>Organisation du code</a:t>
            </a:r>
            <a:r>
              <a:rPr b="1" lang="fr" sz="1800" u="sng">
                <a:solidFill>
                  <a:srgbClr val="000000"/>
                </a:solidFill>
              </a:rPr>
              <a:t> :</a:t>
            </a:r>
            <a:endParaRPr b="1" sz="18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</a:rPr>
              <a:t>-Le code est divisé en plusieurs classes abstract, celles-ci permettant d'éviter la redondance du code  (IA,zone,InventoryStruct…).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</a:rPr>
              <a:t>- Une classe game qui gère la boucle du jeu (différents tours, phases d’un tour…).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</a:rPr>
              <a:t>- Des classes qui gèrent le dialogue entre deux autres classes (GameZone, GamePlayer..).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fr" sz="1400">
                <a:solidFill>
                  <a:srgbClr val="000000"/>
                </a:solidFill>
              </a:rPr>
              <a:t>-Une classe statistics qui permet de faire les stats sur 500 parties.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311700" y="46425"/>
            <a:ext cx="8520600" cy="61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Organisation des tests :</a:t>
            </a:r>
            <a:endParaRPr b="1"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311700" y="1229975"/>
            <a:ext cx="4159200" cy="3721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fr">
                <a:solidFill>
                  <a:srgbClr val="000000"/>
                </a:solidFill>
              </a:rPr>
              <a:t>Tests unitaires pour chaque fonctions présente dans les classes (building, inventory, zone…).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fr">
                <a:solidFill>
                  <a:srgbClr val="000000"/>
                </a:solidFill>
              </a:rPr>
              <a:t>Utilisation de Mock dans les test ne pouvant pas être réalisés sans(Dice, GameZone...).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3" name="Google Shape;123;p16"/>
          <p:cNvSpPr txBox="1"/>
          <p:nvPr>
            <p:ph idx="2" type="body"/>
          </p:nvPr>
        </p:nvSpPr>
        <p:spPr>
          <a:xfrm>
            <a:off x="4673000" y="1229900"/>
            <a:ext cx="4159200" cy="3721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fr">
                <a:solidFill>
                  <a:srgbClr val="000000"/>
                </a:solidFill>
              </a:rPr>
              <a:t>IA conçues pour être plus ou moins intelligentes stratégiquement parlant.(priorité aux bâtiments/carte civilisations pour les points,système de nourriture bien géré...).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fr">
                <a:solidFill>
                  <a:srgbClr val="000000"/>
                </a:solidFill>
              </a:rPr>
              <a:t>Test des fonctions de chaque IA pour s'assurer que les décisions prises sont celles attendues.(décisions en fonction de l’inventaire actuel,en fonctions des zones libres…).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231100" y="708375"/>
            <a:ext cx="25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Eléments du jeu</a:t>
            </a:r>
            <a:endParaRPr b="1" sz="20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918925" y="708365"/>
            <a:ext cx="3379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f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lang="f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écision des robots : </a:t>
            </a:r>
            <a:endParaRPr b="1" sz="20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424" y="0"/>
            <a:ext cx="1068626" cy="11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311700" y="891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FFFFFF"/>
                </a:solidFill>
              </a:rPr>
              <a:t>Points forts et points faibles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311700" y="855500"/>
            <a:ext cx="4200900" cy="4138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>
                <a:solidFill>
                  <a:srgbClr val="000000"/>
                </a:solidFill>
              </a:rPr>
              <a:t>Points forts :</a:t>
            </a:r>
            <a:endParaRPr b="1" sz="1800" u="sng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400" u="sng">
              <a:solidFill>
                <a:srgbClr val="000000"/>
              </a:solidFill>
            </a:endParaRPr>
          </a:p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4758550" y="855475"/>
            <a:ext cx="4073700" cy="4138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>
                <a:solidFill>
                  <a:srgbClr val="000000"/>
                </a:solidFill>
              </a:rPr>
              <a:t>Points faibles :</a:t>
            </a:r>
            <a:endParaRPr b="1" sz="18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100" u="sng">
              <a:solidFill>
                <a:srgbClr val="000000"/>
              </a:solidFill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99304" cy="136782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17"/>
          <p:cNvSpPr txBox="1"/>
          <p:nvPr/>
        </p:nvSpPr>
        <p:spPr>
          <a:xfrm>
            <a:off x="4694950" y="1367825"/>
            <a:ext cx="42009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Test de certaines fonctions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incomplets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mal réalisés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fr">
                <a:latin typeface="Roboto"/>
                <a:ea typeface="Roboto"/>
                <a:cs typeface="Roboto"/>
                <a:sym typeface="Roboto"/>
              </a:rPr>
              <a:t>(découverte des fonctionnalités de test trop tardive).</a:t>
            </a:r>
            <a:endParaRPr i="1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i="1" lang="fr">
                <a:latin typeface="Roboto"/>
                <a:ea typeface="Roboto"/>
                <a:cs typeface="Roboto"/>
                <a:sym typeface="Roboto"/>
              </a:rPr>
              <a:t>Une </a:t>
            </a:r>
            <a:r>
              <a:rPr b="1" i="1" lang="fr">
                <a:latin typeface="Roboto"/>
                <a:ea typeface="Roboto"/>
                <a:cs typeface="Roboto"/>
                <a:sym typeface="Roboto"/>
              </a:rPr>
              <a:t>structure </a:t>
            </a:r>
            <a:r>
              <a:rPr i="1" lang="fr">
                <a:latin typeface="Roboto"/>
                <a:ea typeface="Roboto"/>
                <a:cs typeface="Roboto"/>
                <a:sym typeface="Roboto"/>
              </a:rPr>
              <a:t>générale non optimale et améliorable.</a:t>
            </a:r>
            <a:endParaRPr i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	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complexité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 de certaines classes n’est pas toujours optimale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4700" y="0"/>
            <a:ext cx="999300" cy="1411679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17"/>
          <p:cNvSpPr txBox="1"/>
          <p:nvPr/>
        </p:nvSpPr>
        <p:spPr>
          <a:xfrm>
            <a:off x="204025" y="1411675"/>
            <a:ext cx="4308600" cy="3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De nombreuses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classes abstract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implémentation plus facile 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de nouveaux éléments du jeu. (Zone, Building).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Copie de l’inventaire et du joueur envoyées aux IA :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gestion simplifiée des vérifications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Envoie de copies aux IA : elles ne peuvent pas modifier les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éléments du jeu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 (donc tricher).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Des IA ayant des </a:t>
            </a:r>
            <a:r>
              <a:rPr b="1" lang="fr">
                <a:latin typeface="Roboto"/>
                <a:ea typeface="Roboto"/>
                <a:cs typeface="Roboto"/>
                <a:sym typeface="Roboto"/>
              </a:rPr>
              <a:t>stratégies différentes</a:t>
            </a:r>
            <a:r>
              <a:rPr lang="fr">
                <a:latin typeface="Roboto"/>
                <a:ea typeface="Roboto"/>
                <a:cs typeface="Roboto"/>
                <a:sym typeface="Roboto"/>
              </a:rPr>
              <a:t>, ainsi que des IA plus “intelligentes” que les autres (une IA possédant un taux de victoire très supérieur aux autres).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230600" y="0"/>
            <a:ext cx="8520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Problèmes rencontrés</a:t>
            </a:r>
            <a:endParaRPr b="1"/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50" y="2035349"/>
            <a:ext cx="938625" cy="9597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50" y="838125"/>
            <a:ext cx="938625" cy="102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5" name="Google Shape;145;p18"/>
          <p:cNvSpPr txBox="1"/>
          <p:nvPr/>
        </p:nvSpPr>
        <p:spPr>
          <a:xfrm>
            <a:off x="1028375" y="838125"/>
            <a:ext cx="6677400" cy="1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latin typeface="Roboto"/>
                <a:ea typeface="Roboto"/>
                <a:cs typeface="Roboto"/>
                <a:sym typeface="Roboto"/>
              </a:rPr>
              <a:t>Problèmes dû au retard : </a:t>
            </a:r>
            <a:endParaRPr b="1" sz="16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Roboto"/>
                <a:ea typeface="Roboto"/>
                <a:cs typeface="Roboto"/>
                <a:sym typeface="Roboto"/>
              </a:rPr>
              <a:t>Certaines fonctionnalités ont dû être décalées d’une itération où la charge de travail était déjà grande.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1028375" y="2035350"/>
            <a:ext cx="77691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latin typeface="Roboto"/>
                <a:ea typeface="Roboto"/>
                <a:cs typeface="Roboto"/>
                <a:sym typeface="Roboto"/>
              </a:rPr>
              <a:t>Retour client et retour technique: </a:t>
            </a:r>
            <a:endParaRPr b="1" sz="16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Roboto"/>
                <a:ea typeface="Roboto"/>
                <a:cs typeface="Roboto"/>
                <a:sym typeface="Roboto"/>
              </a:rPr>
              <a:t>Certaines itérations n’ont pas satisfait le client.</a:t>
            </a:r>
            <a:r>
              <a:rPr b="1" lang="fr" sz="1600" u="sng">
                <a:latin typeface="Roboto"/>
                <a:ea typeface="Roboto"/>
                <a:cs typeface="Roboto"/>
                <a:sym typeface="Roboto"/>
              </a:rPr>
              <a:t> 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50" y="3197775"/>
            <a:ext cx="938625" cy="97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18"/>
          <p:cNvSpPr txBox="1"/>
          <p:nvPr/>
        </p:nvSpPr>
        <p:spPr>
          <a:xfrm>
            <a:off x="1028375" y="3197775"/>
            <a:ext cx="55344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latin typeface="Roboto"/>
                <a:ea typeface="Roboto"/>
                <a:cs typeface="Roboto"/>
                <a:sym typeface="Roboto"/>
              </a:rPr>
              <a:t>Gestion du projet : </a:t>
            </a:r>
            <a:endParaRPr b="1" sz="16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Roboto"/>
                <a:ea typeface="Roboto"/>
                <a:cs typeface="Roboto"/>
                <a:sym typeface="Roboto"/>
              </a:rPr>
              <a:t>Oublis de références des issues sur les commits.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Premier tour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00" y="1129250"/>
            <a:ext cx="6213750" cy="3534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6488400" y="1232550"/>
            <a:ext cx="27630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JeanCharles = NoobIA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Sardoche = Civilisation Wood IA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Doritos = CiviIA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f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Robert = RessourceIA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Premier tour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450" y="1017800"/>
            <a:ext cx="3960750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Premier tour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625" y="1017800"/>
            <a:ext cx="4316077" cy="38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Premier tour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800" y="1017800"/>
            <a:ext cx="3657614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Dernier tour</a:t>
            </a:r>
            <a:endParaRPr/>
          </a:p>
        </p:txBody>
      </p:sp>
      <p:pic>
        <p:nvPicPr>
          <p:cNvPr id="179" name="Google Shape;1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25" y="964475"/>
            <a:ext cx="8339750" cy="38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Dernier tour</a:t>
            </a:r>
            <a:endParaRPr/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575" y="1017800"/>
            <a:ext cx="3778028" cy="38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Dernier tour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025" y="1017800"/>
            <a:ext cx="4344653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Dernier tour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201" cy="3415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Dernier tour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75" y="1017800"/>
            <a:ext cx="6430295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179425" y="10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Statistiques</a:t>
            </a:r>
            <a:endParaRPr/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25" y="709200"/>
            <a:ext cx="3575301" cy="24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73" y="3113275"/>
            <a:ext cx="2958075" cy="177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7998" y="227150"/>
            <a:ext cx="3640500" cy="222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7994" y="2482375"/>
            <a:ext cx="3520431" cy="24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2222250" y="570925"/>
            <a:ext cx="4699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Merci pour votre attention</a:t>
            </a:r>
            <a:endParaRPr/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 b="-3920" l="3139" r="-3140" t="3920"/>
          <a:stretch/>
        </p:blipFill>
        <p:spPr>
          <a:xfrm>
            <a:off x="3004336" y="1609875"/>
            <a:ext cx="3135326" cy="27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675" y="159175"/>
            <a:ext cx="2270877" cy="4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